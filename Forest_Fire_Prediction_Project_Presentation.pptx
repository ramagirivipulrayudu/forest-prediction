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7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60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62D4A"/>
                </a:solidFill>
                <a:latin typeface="Aptos"/>
              </a:defRPr>
            </a:pPr>
            <a:r>
              <a:t>FOREST FIRE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691640"/>
            <a:ext cx="10241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2D734E"/>
                </a:solidFill>
                <a:latin typeface="Aptos"/>
              </a:defRPr>
            </a:pPr>
            <a:r>
              <a:t>Using Machine Learning and Satellite Image Analysis (CNN)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D353C"/>
                </a:solidFill>
                <a:latin typeface="Aptos"/>
              </a:defRPr>
            </a:pPr>
            <a:r>
              <a:t>Machine Learning | B.Tech | A.Y. 2026–27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5669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D353C"/>
                </a:solidFill>
                <a:latin typeface="Aptos"/>
              </a:defRPr>
            </a:pPr>
            <a:r>
              <a:t>Presented by</a:t>
            </a:r>
          </a:p>
          <a:p>
            <a:pPr>
              <a:spcAft>
                <a:spcPts val="800"/>
              </a:spcAft>
              <a:defRPr sz="1800" b="0">
                <a:solidFill>
                  <a:srgbClr val="2D353C"/>
                </a:solidFill>
                <a:latin typeface="Aptos"/>
              </a:defRPr>
            </a:pPr>
            <a:r>
              <a:t>R. Vipulrayudu — 2520080056</a:t>
            </a:r>
          </a:p>
          <a:p>
            <a:pPr>
              <a:spcAft>
                <a:spcPts val="800"/>
              </a:spcAft>
              <a:defRPr sz="1800" b="0">
                <a:solidFill>
                  <a:srgbClr val="2D353C"/>
                </a:solidFill>
                <a:latin typeface="Aptos"/>
              </a:defRPr>
            </a:pPr>
            <a:r>
              <a:t>M. Dhanush Raj — 2520080046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338328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D353C"/>
                </a:solidFill>
                <a:latin typeface="Aptos"/>
              </a:defRPr>
            </a:pPr>
            <a:r>
              <a:t>Guide: Soumya</a:t>
            </a:r>
          </a:p>
          <a:p>
            <a:pPr>
              <a:spcAft>
                <a:spcPts val="800"/>
              </a:spcAft>
              <a:defRPr sz="1700" b="0">
                <a:solidFill>
                  <a:srgbClr val="2D353C"/>
                </a:solidFill>
                <a:latin typeface="Aptos"/>
              </a:defRPr>
            </a:pPr>
            <a:r>
              <a:t>Assistant Professor, CS &amp; IT</a:t>
            </a:r>
          </a:p>
          <a:p>
            <a:pPr>
              <a:spcAft>
                <a:spcPts val="800"/>
              </a:spcAft>
              <a:defRPr sz="1700" b="0">
                <a:solidFill>
                  <a:srgbClr val="2D353C"/>
                </a:solidFill>
                <a:latin typeface="Aptos"/>
              </a:defRPr>
            </a:pPr>
            <a:r>
              <a:t>College/University: [Add institution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80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646E76"/>
                </a:solidFill>
                <a:latin typeface="Aptos"/>
              </a:defRPr>
            </a:pPr>
            <a:r>
              <a:t>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6"/>
                </a:solidFill>
                <a:latin typeface="Aptos"/>
              </a:defRPr>
            </a:pPr>
            <a:r>
              <a:t>FOREST FIRE PREDICTION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D353C"/>
                </a:solidFill>
                <a:latin typeface="Aptos"/>
              </a:defRPr>
            </a:pPr>
            <a:r>
              <a:t>•  Forest fires threaten ecosystems, wildlife, biodiversity, property, and human safety.</a:t>
            </a:r>
          </a:p>
          <a:p>
            <a:pPr>
              <a:spcAft>
                <a:spcPts val="1300"/>
              </a:spcAft>
              <a:defRPr sz="2100">
                <a:solidFill>
                  <a:srgbClr val="2D353C"/>
                </a:solidFill>
                <a:latin typeface="Aptos"/>
              </a:defRPr>
            </a:pPr>
            <a:r>
              <a:t>•  Fire danger is influenced by weather, vegetation, terrain, and ignition sources.</a:t>
            </a:r>
          </a:p>
          <a:p>
            <a:pPr>
              <a:spcAft>
                <a:spcPts val="1300"/>
              </a:spcAft>
              <a:defRPr sz="2100">
                <a:solidFill>
                  <a:srgbClr val="2D353C"/>
                </a:solidFill>
                <a:latin typeface="Aptos"/>
              </a:defRPr>
            </a:pPr>
            <a:r>
              <a:t>•  Machine learning can identify patterns in historical fire and environmental data.</a:t>
            </a:r>
          </a:p>
          <a:p>
            <a:pPr>
              <a:spcAft>
                <a:spcPts val="1300"/>
              </a:spcAft>
              <a:defRPr sz="2100">
                <a:solidFill>
                  <a:srgbClr val="2D353C"/>
                </a:solidFill>
                <a:latin typeface="Aptos"/>
              </a:defRPr>
            </a:pPr>
            <a:r>
              <a:t>•  Satellite observations can help monitor large areas that are difficult to observe manually.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6"/>
                </a:solidFill>
                <a:latin typeface="Aptos"/>
              </a:defRPr>
            </a:pPr>
            <a:r>
              <a:t>FOREST FIRE PREDICTION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D353C"/>
                </a:solidFill>
                <a:latin typeface="Aptos"/>
              </a:defRPr>
            </a:pPr>
            <a:r>
              <a:t>•  Manual patrols and ground sensors cannot continuously cover every forest area.</a:t>
            </a:r>
          </a:p>
          <a:p>
            <a:pPr>
              <a:spcAft>
                <a:spcPts val="1300"/>
              </a:spcAft>
              <a:defRPr sz="2100">
                <a:solidFill>
                  <a:srgbClr val="2D353C"/>
                </a:solidFill>
                <a:latin typeface="Aptos"/>
              </a:defRPr>
            </a:pPr>
            <a:r>
              <a:t>•  Fire conditions can change quickly, especially during hot, dry, and windy periods.</a:t>
            </a:r>
          </a:p>
          <a:p>
            <a:pPr>
              <a:spcAft>
                <a:spcPts val="1300"/>
              </a:spcAft>
              <a:defRPr sz="2100">
                <a:solidFill>
                  <a:srgbClr val="2D353C"/>
                </a:solidFill>
                <a:latin typeface="Aptos"/>
              </a:defRPr>
            </a:pPr>
            <a:r>
              <a:t>•  Historical fire records, weather data, and satellite observations may be incomplete or noisy.</a:t>
            </a:r>
          </a:p>
          <a:p>
            <a:pPr>
              <a:spcAft>
                <a:spcPts val="1300"/>
              </a:spcAft>
              <a:defRPr sz="2100">
                <a:solidFill>
                  <a:srgbClr val="2D353C"/>
                </a:solidFill>
                <a:latin typeface="Aptos"/>
              </a:defRPr>
            </a:pPr>
            <a:r>
              <a:t>•  Forest departments and disaster-management teams need timely, evidence-based risk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6"/>
                </a:solidFill>
                <a:latin typeface="Aptos"/>
              </a:defRPr>
            </a:pPr>
            <a:r>
              <a:t>FOREST FIRE PREDICTION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D353C"/>
                </a:solidFill>
                <a:latin typeface="Aptos"/>
              </a:defRPr>
            </a:pPr>
            <a:r>
              <a:t>•  Support earlier identification of potentially high-risk locations.</a:t>
            </a:r>
          </a:p>
          <a:p>
            <a:pPr>
              <a:spcAft>
                <a:spcPts val="1300"/>
              </a:spcAft>
              <a:defRPr sz="2100">
                <a:solidFill>
                  <a:srgbClr val="2D353C"/>
                </a:solidFill>
                <a:latin typeface="Aptos"/>
              </a:defRPr>
            </a:pPr>
            <a:r>
              <a:t>•  Help authorities prioritise patrols, monitoring, and emergency resources.</a:t>
            </a:r>
          </a:p>
          <a:p>
            <a:pPr>
              <a:spcAft>
                <a:spcPts val="1300"/>
              </a:spcAft>
              <a:defRPr sz="2100">
                <a:solidFill>
                  <a:srgbClr val="2D353C"/>
                </a:solidFill>
                <a:latin typeface="Aptos"/>
              </a:defRPr>
            </a:pPr>
            <a:r>
              <a:t>•  Explore a practical environmental use of machine learning and satellite remote sensing.</a:t>
            </a:r>
          </a:p>
          <a:p>
            <a:pPr>
              <a:spcAft>
                <a:spcPts val="1300"/>
              </a:spcAft>
              <a:defRPr sz="2100">
                <a:solidFill>
                  <a:srgbClr val="2D353C"/>
                </a:solidFill>
                <a:latin typeface="Aptos"/>
              </a:defRPr>
            </a:pPr>
            <a:r>
              <a:t>•  Reduce dependence on manual observation alone while keeping experts involved in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6"/>
                </a:solidFill>
                <a:latin typeface="Aptos"/>
              </a:defRPr>
            </a:pPr>
            <a:r>
              <a:t>FOREST FIRE PREDICTION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353C"/>
                </a:solidFill>
                <a:latin typeface="Aptos"/>
              </a:defRPr>
            </a:pPr>
            <a:r>
              <a:t>•  Study relevant fire, weather, satellite, vegetation, and terrain data sources.</a:t>
            </a:r>
          </a:p>
          <a:p>
            <a:pPr>
              <a:spcAft>
                <a:spcPts val="1300"/>
              </a:spcAft>
              <a:defRPr sz="2000">
                <a:solidFill>
                  <a:srgbClr val="2D353C"/>
                </a:solidFill>
                <a:latin typeface="Aptos"/>
              </a:defRPr>
            </a:pPr>
            <a:r>
              <a:t>•  Prepare and explore data to identify quality issues and useful patterns.</a:t>
            </a:r>
          </a:p>
          <a:p>
            <a:pPr>
              <a:spcAft>
                <a:spcPts val="1300"/>
              </a:spcAft>
              <a:defRPr sz="2000">
                <a:solidFill>
                  <a:srgbClr val="2D353C"/>
                </a:solidFill>
                <a:latin typeface="Aptos"/>
              </a:defRPr>
            </a:pPr>
            <a:r>
              <a:t>•  Develop a baseline and evaluate a tree-based classifier such as Random Forest.</a:t>
            </a:r>
          </a:p>
          <a:p>
            <a:pPr>
              <a:spcAft>
                <a:spcPts val="1300"/>
              </a:spcAft>
              <a:defRPr sz="2000">
                <a:solidFill>
                  <a:srgbClr val="2D353C"/>
                </a:solidFill>
                <a:latin typeface="Aptos"/>
              </a:defRPr>
            </a:pPr>
            <a:r>
              <a:t>•  Use CNN-based image analysis when labelled satellite images are available.</a:t>
            </a:r>
          </a:p>
          <a:p>
            <a:pPr>
              <a:spcAft>
                <a:spcPts val="1300"/>
              </a:spcAft>
              <a:defRPr sz="2000">
                <a:solidFill>
                  <a:srgbClr val="2D353C"/>
                </a:solidFill>
                <a:latin typeface="Aptos"/>
              </a:defRPr>
            </a:pPr>
            <a:r>
              <a:t>•  Evaluate with precision, recall, F1-score, PR-AUC, and a confusion matrix.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Existing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6"/>
                </a:solidFill>
                <a:latin typeface="Aptos"/>
              </a:defRPr>
            </a:pPr>
            <a:r>
              <a:t>FOREST FIRE PREDICTION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353C"/>
                </a:solidFill>
                <a:latin typeface="Aptos"/>
              </a:defRPr>
            </a:pPr>
            <a:r>
              <a:t>•  Common approaches include watchtowers, ground patrols, sensors, and satellite fire monitoring.</a:t>
            </a:r>
          </a:p>
          <a:p>
            <a:pPr>
              <a:spcAft>
                <a:spcPts val="1300"/>
              </a:spcAft>
              <a:defRPr sz="2000">
                <a:solidFill>
                  <a:srgbClr val="2D353C"/>
                </a:solidFill>
                <a:latin typeface="Aptos"/>
              </a:defRPr>
            </a:pPr>
            <a:r>
              <a:t>•  Human observation provides context but can be limited by visibility, staffing, and terrain.</a:t>
            </a:r>
          </a:p>
          <a:p>
            <a:pPr>
              <a:spcAft>
                <a:spcPts val="1300"/>
              </a:spcAft>
              <a:defRPr sz="2000">
                <a:solidFill>
                  <a:srgbClr val="2D353C"/>
                </a:solidFill>
                <a:latin typeface="Aptos"/>
              </a:defRPr>
            </a:pPr>
            <a:r>
              <a:t>•  Weather thresholds can identify dangerous conditions but may not capture complex interactions.</a:t>
            </a:r>
          </a:p>
          <a:p>
            <a:pPr>
              <a:spcAft>
                <a:spcPts val="1300"/>
              </a:spcAft>
              <a:defRPr sz="2000">
                <a:solidFill>
                  <a:srgbClr val="2D353C"/>
                </a:solidFill>
                <a:latin typeface="Aptos"/>
              </a:defRPr>
            </a:pPr>
            <a:r>
              <a:t>•  Satellite detections can be delayed or affected by observation timing, cloud, and resolution.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6"/>
                </a:solidFill>
                <a:latin typeface="Aptos"/>
              </a:defRPr>
            </a:pPr>
            <a:r>
              <a:t>FOREST FIRE PREDICTION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D353C"/>
                </a:solidFill>
                <a:latin typeface="Aptos"/>
              </a:defRPr>
            </a:pPr>
            <a:r>
              <a:t>•  Combine historical fire records with weather and land-context features.</a:t>
            </a:r>
          </a:p>
          <a:p>
            <a:pPr>
              <a:spcAft>
                <a:spcPts val="1300"/>
              </a:spcAft>
              <a:defRPr sz="2000">
                <a:solidFill>
                  <a:srgbClr val="2D353C"/>
                </a:solidFill>
                <a:latin typeface="Aptos"/>
              </a:defRPr>
            </a:pPr>
            <a:r>
              <a:t>•  Use Random Forest as a candidate model for tabular fire-occurrence classification.</a:t>
            </a:r>
          </a:p>
          <a:p>
            <a:pPr>
              <a:spcAft>
                <a:spcPts val="1300"/>
              </a:spcAft>
              <a:defRPr sz="2000">
                <a:solidFill>
                  <a:srgbClr val="2D353C"/>
                </a:solidFill>
                <a:latin typeface="Aptos"/>
              </a:defRPr>
            </a:pPr>
            <a:r>
              <a:t>•  Use a CNN to analyse satellite images for fire-related visual patterns when labelled images exist.</a:t>
            </a:r>
          </a:p>
          <a:p>
            <a:pPr>
              <a:spcAft>
                <a:spcPts val="1300"/>
              </a:spcAft>
              <a:defRPr sz="2000">
                <a:solidFill>
                  <a:srgbClr val="2D353C"/>
                </a:solidFill>
                <a:latin typeface="Aptos"/>
              </a:defRPr>
            </a:pPr>
            <a:r>
              <a:t>•  Generate a risk estimate or image classification for review by responsible personnel.</a:t>
            </a:r>
          </a:p>
          <a:p>
            <a:pPr>
              <a:spcAft>
                <a:spcPts val="1300"/>
              </a:spcAft>
              <a:defRPr sz="2000">
                <a:solidFill>
                  <a:srgbClr val="2D353C"/>
                </a:solidFill>
                <a:latin typeface="Aptos"/>
              </a:defRPr>
            </a:pPr>
            <a:r>
              <a:t>•  Treat predictions as decision support, not as a replacement for official alerts or expert judgement.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System Architecture / Block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6"/>
                </a:solidFill>
                <a:latin typeface="Aptos"/>
              </a:defRPr>
            </a:pPr>
            <a:r>
              <a:t>FOREST FIRE PREDICTION USING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331720" cy="2148840"/>
          </a:xfrm>
          <a:prstGeom prst="roundRect">
            <a:avLst/>
          </a:prstGeom>
          <a:solidFill>
            <a:srgbClr val="ECF4EE"/>
          </a:solidFill>
          <a:ln>
            <a:solidFill>
              <a:srgbClr val="2D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734E"/>
                </a:solidFill>
              </a:defRPr>
            </a:pPr>
            <a:r>
              <a:t>INPUT DATA</a:t>
            </a:r>
          </a:p>
          <a:p>
            <a:pPr algn="ctr">
              <a:defRPr sz="1400">
                <a:solidFill>
                  <a:srgbClr val="2D353C"/>
                </a:solidFill>
              </a:defRPr>
            </a:pPr>
            <a:r>
              <a:t>Fire records</a:t>
            </a:r>
            <a:br/>
            <a:r>
              <a:t>Weather data</a:t>
            </a:r>
            <a:br/>
            <a:r>
              <a:t>Satellite images</a:t>
            </a:r>
            <a:br/>
            <a:r>
              <a:t>Vegetation / terrain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6060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600" b="1">
                <a:solidFill>
                  <a:srgbClr val="DE7C3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331720" cy="2148840"/>
          </a:xfrm>
          <a:prstGeom prst="roundRect">
            <a:avLst/>
          </a:prstGeom>
          <a:solidFill>
            <a:srgbClr val="F2F6F8"/>
          </a:solidFill>
          <a:ln>
            <a:solidFill>
              <a:srgbClr val="2D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734E"/>
                </a:solidFill>
              </a:defRPr>
            </a:pPr>
            <a:r>
              <a:t>PREPROCESSING</a:t>
            </a:r>
          </a:p>
          <a:p>
            <a:pPr algn="ctr">
              <a:defRPr sz="1400">
                <a:solidFill>
                  <a:srgbClr val="2D353C"/>
                </a:solidFill>
              </a:defRPr>
            </a:pPr>
            <a:r>
              <a:t>Clean and align</a:t>
            </a:r>
            <a:br/>
            <a:r>
              <a:t>Handle missing data</a:t>
            </a:r>
            <a:br/>
            <a:r>
              <a:t>Prepare features</a:t>
            </a:r>
            <a:br/>
            <a:r>
              <a:t>Resize images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26060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600" b="1">
                <a:solidFill>
                  <a:srgbClr val="DE7C3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2331720" cy="2148840"/>
          </a:xfrm>
          <a:prstGeom prst="roundRect">
            <a:avLst/>
          </a:prstGeom>
          <a:solidFill>
            <a:srgbClr val="ECF4EE"/>
          </a:solidFill>
          <a:ln>
            <a:solidFill>
              <a:srgbClr val="2D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734E"/>
                </a:solidFill>
              </a:defRPr>
            </a:pPr>
            <a:r>
              <a:t>MODELS</a:t>
            </a:r>
          </a:p>
          <a:p>
            <a:pPr algn="ctr">
              <a:defRPr sz="1400">
                <a:solidFill>
                  <a:srgbClr val="2D353C"/>
                </a:solidFill>
              </a:defRPr>
            </a:pPr>
            <a:r>
              <a:t>Random Forest</a:t>
            </a:r>
            <a:br/>
            <a:r>
              <a:t>for tabular data</a:t>
            </a:r>
            <a:br/>
            <a:r>
              <a:t>CNN for images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260604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600" b="1">
                <a:solidFill>
                  <a:srgbClr val="DE7C3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81160" y="1828800"/>
            <a:ext cx="2331720" cy="2148840"/>
          </a:xfrm>
          <a:prstGeom prst="roundRect">
            <a:avLst/>
          </a:prstGeom>
          <a:solidFill>
            <a:srgbClr val="F2F6F8"/>
          </a:solidFill>
          <a:ln>
            <a:solidFill>
              <a:srgbClr val="2D7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D734E"/>
                </a:solidFill>
              </a:defRPr>
            </a:pPr>
            <a:r>
              <a:t>OUTPUT</a:t>
            </a:r>
          </a:p>
          <a:p>
            <a:pPr algn="ctr">
              <a:defRPr sz="1400">
                <a:solidFill>
                  <a:srgbClr val="2D353C"/>
                </a:solidFill>
              </a:defRPr>
            </a:pPr>
            <a:r>
              <a:t>Fire-risk estimate</a:t>
            </a:r>
            <a:br/>
            <a:r>
              <a:t>Image classification</a:t>
            </a:r>
            <a:br/>
            <a:r>
              <a:t>Maps / reports</a:t>
            </a:r>
            <a:br/>
            <a:r>
              <a:t>Human 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646E76"/>
                </a:solidFill>
                <a:latin typeface="Aptos"/>
              </a:defRPr>
            </a:pPr>
            <a:r>
              <a:t>Data sources and labels must be aligned by time and location; the two model paths are separate unless integration is implemented.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Methodology /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6"/>
                </a:solidFill>
                <a:latin typeface="Aptos"/>
              </a:defRPr>
            </a:pPr>
            <a:r>
              <a:t>FOREST FIRE PREDICTION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1. Define target: fire occurrence, risk level, or image-based fire evidence.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2. Collect and document data sources, time range, and geographic coverage.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3. Clean, align, and explore the data; create features where appropriate.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4. Split by time or region before fitting preprocessing steps to avoid leakage.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5. Train a baseline and candidate models; tune using validation data.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6. Evaluate on held-out data, explain predictions, and document limitations.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6"/>
                </a:solidFill>
                <a:latin typeface="Aptos"/>
              </a:defRPr>
            </a:pPr>
            <a:r>
              <a:t>FOREST FIRE PREDICTION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D353C"/>
                </a:solidFill>
                <a:latin typeface="Aptos"/>
              </a:defRPr>
            </a:pPr>
            <a:r>
              <a:t>•  Programming language: Python 3.x.</a:t>
            </a:r>
          </a:p>
          <a:p>
            <a:pPr>
              <a:spcAft>
                <a:spcPts val="1300"/>
              </a:spcAft>
              <a:defRPr sz="1900">
                <a:solidFill>
                  <a:srgbClr val="2D353C"/>
                </a:solidFill>
                <a:latin typeface="Aptos"/>
              </a:defRPr>
            </a:pPr>
            <a:r>
              <a:t>•  Development tools: VS Code, PyCharm, or Jupyter Notebook.</a:t>
            </a:r>
          </a:p>
          <a:p>
            <a:pPr>
              <a:spcAft>
                <a:spcPts val="1300"/>
              </a:spcAft>
              <a:defRPr sz="1900">
                <a:solidFill>
                  <a:srgbClr val="2D353C"/>
                </a:solidFill>
                <a:latin typeface="Aptos"/>
              </a:defRPr>
            </a:pPr>
            <a:r>
              <a:t>•  Libraries listed in the project report: TensorFlow, Keras, Scikit-learn, OpenCV, NumPy, Pandas.</a:t>
            </a:r>
          </a:p>
          <a:p>
            <a:pPr>
              <a:spcAft>
                <a:spcPts val="1300"/>
              </a:spcAft>
              <a:defRPr sz="1900">
                <a:solidFill>
                  <a:srgbClr val="2D353C"/>
                </a:solidFill>
                <a:latin typeface="Aptos"/>
              </a:defRPr>
            </a:pPr>
            <a:r>
              <a:t>•  Possible data sources: NASA MODIS / FIRMS, Sentinel-2, IMD or ERA5 weather data.</a:t>
            </a:r>
          </a:p>
          <a:p>
            <a:pPr>
              <a:spcAft>
                <a:spcPts val="1300"/>
              </a:spcAft>
              <a:defRPr sz="1900">
                <a:solidFill>
                  <a:srgbClr val="2D353C"/>
                </a:solidFill>
                <a:latin typeface="Aptos"/>
              </a:defRPr>
            </a:pPr>
            <a:r>
              <a:t>•  Optional storage: SQLite; version control: Git.</a:t>
            </a:r>
          </a:p>
          <a:p>
            <a:pPr>
              <a:spcAft>
                <a:spcPts val="1300"/>
              </a:spcAft>
              <a:defRPr sz="1900">
                <a:solidFill>
                  <a:srgbClr val="2D353C"/>
                </a:solidFill>
                <a:latin typeface="Aptos"/>
              </a:defRPr>
            </a:pPr>
            <a:r>
              <a:t>•  Hardware noted in the report: Intel Core i5, 8 GB RAM, 50 GB storage; GPU optional.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System Modules /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6"/>
                </a:solidFill>
                <a:latin typeface="Aptos"/>
              </a:defRPr>
            </a:pPr>
            <a:r>
              <a:t>FOREST FIRE PREDICTION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Data collection: retrieve fire records, weather observations, imagery, and land context.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Preprocessing: validate, clean, align, and transform the data.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Feature engineering: derive weather summaries, FWI variables, and time-since-rain features if available.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ML module: train and run the tabular classifier; CNN module handles images separately.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Evaluation and reporting: calculate metrics, plot results, and record model limitations.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Alert review: present outputs for human assessment before any operational action.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6"/>
                </a:solidFill>
                <a:latin typeface="Aptos"/>
              </a:defRPr>
            </a:pPr>
            <a:r>
              <a:t>FOREST FIRE PREDICTION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D353C"/>
                </a:solidFill>
                <a:latin typeface="Aptos"/>
              </a:defRPr>
            </a:pPr>
            <a:r>
              <a:t>•  Set up Python and the required libraries.</a:t>
            </a:r>
          </a:p>
          <a:p>
            <a:pPr>
              <a:spcAft>
                <a:spcPts val="1300"/>
              </a:spcAft>
              <a:defRPr sz="1900">
                <a:solidFill>
                  <a:srgbClr val="2D353C"/>
                </a:solidFill>
                <a:latin typeface="Aptos"/>
              </a:defRPr>
            </a:pPr>
            <a:r>
              <a:t>•  Load the chosen dataset and record its source, labels, time span, and geographic coverage.</a:t>
            </a:r>
          </a:p>
          <a:p>
            <a:pPr>
              <a:spcAft>
                <a:spcPts val="1300"/>
              </a:spcAft>
              <a:defRPr sz="1900">
                <a:solidFill>
                  <a:srgbClr val="2D353C"/>
                </a:solidFill>
                <a:latin typeface="Aptos"/>
              </a:defRPr>
            </a:pPr>
            <a:r>
              <a:t>•  Run data-quality checks and EDA before training.</a:t>
            </a:r>
          </a:p>
          <a:p>
            <a:pPr>
              <a:spcAft>
                <a:spcPts val="1300"/>
              </a:spcAft>
              <a:defRPr sz="1900">
                <a:solidFill>
                  <a:srgbClr val="2D353C"/>
                </a:solidFill>
                <a:latin typeface="Aptos"/>
              </a:defRPr>
            </a:pPr>
            <a:r>
              <a:t>•  Create a time-based or region-based train/validation/test split.</a:t>
            </a:r>
          </a:p>
          <a:p>
            <a:pPr>
              <a:spcAft>
                <a:spcPts val="1300"/>
              </a:spcAft>
              <a:defRPr sz="1900">
                <a:solidFill>
                  <a:srgbClr val="2D353C"/>
                </a:solidFill>
                <a:latin typeface="Aptos"/>
              </a:defRPr>
            </a:pPr>
            <a:r>
              <a:t>•  Train and compare a baseline with Random Forest; add CNN experiments only with labelled images.</a:t>
            </a:r>
          </a:p>
          <a:p>
            <a:pPr>
              <a:spcAft>
                <a:spcPts val="1300"/>
              </a:spcAft>
              <a:defRPr sz="1900">
                <a:solidFill>
                  <a:srgbClr val="2D353C"/>
                </a:solidFill>
                <a:latin typeface="Aptos"/>
              </a:defRPr>
            </a:pPr>
            <a:r>
              <a:t>•  Save evaluation outputs and screenshots after the implementation is run.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Dataset / Input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6"/>
                </a:solidFill>
                <a:latin typeface="Aptos"/>
              </a:defRPr>
            </a:pPr>
            <a:r>
              <a:t>FOREST FIRE PREDICTION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UCI Forest Fires: small dataset suitable for learning and initial experiments.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NASA FIRMS: satellite fire detections and thermal-anomaly observations.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IMD or ERA5: weather features such as temperature, rainfall, and wind.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Sentinel-2 / MODIS imagery: potential image inputs, depending on task and availability.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Possible features: humidity, wind speed, rainfall, FWI components, vegetation indices, terrain, date, and location.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The exact record count and final merged dataset were not specified in the supplied files.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Algorithm /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6"/>
                </a:solidFill>
                <a:latin typeface="Aptos"/>
              </a:defRPr>
            </a:pPr>
            <a:r>
              <a:t>FOREST FIRE PREDICTION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Baseline: logistic regression to establish a reference performance.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Random Forest: candidate classifier for structured weather and land-context features.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CNN: image model for learning visual patterns from labelled satellite imagery.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Compare models on held-out validation data rather than assuming one model is best.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Use feature importance or SHAP as diagnostic tools, checking for leakage and implausible drivers.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Important parameters must be selected and documented during actual implementation.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Results and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6"/>
                </a:solidFill>
                <a:latin typeface="Aptos"/>
              </a:defRPr>
            </a:pPr>
            <a:r>
              <a:t>FOREST FIRE PREDICTION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No trained-model output or measured metric values were provided in the source files.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Report precision, recall, F1-score, confusion matrix, and PR-AUC for rare-event prediction.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Accuracy alone may be misleading when fire examples are much less common than non-fire examples.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Recall matters for detecting fires; precision helps keep alerts credible and manageable.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Compare baseline and candidate models using the same held-out test set.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Insert actual tables, graphs, and values only after running the experiments.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Screenshots /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6"/>
                </a:solidFill>
                <a:latin typeface="Aptos"/>
              </a:defRPr>
            </a:pPr>
            <a:r>
              <a:t>FOREST FIRE PREDICTION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D353C"/>
                </a:solidFill>
                <a:latin typeface="Aptos"/>
              </a:defRPr>
            </a:pPr>
            <a:r>
              <a:t>•  Suggested screenshot 1: dataset preview and feature columns.</a:t>
            </a:r>
          </a:p>
          <a:p>
            <a:pPr>
              <a:spcAft>
                <a:spcPts val="1300"/>
              </a:spcAft>
              <a:defRPr sz="1900">
                <a:solidFill>
                  <a:srgbClr val="2D353C"/>
                </a:solidFill>
                <a:latin typeface="Aptos"/>
              </a:defRPr>
            </a:pPr>
            <a:r>
              <a:t>•  Suggested screenshot 2: EDA plots showing class balance and weather distributions.</a:t>
            </a:r>
          </a:p>
          <a:p>
            <a:pPr>
              <a:spcAft>
                <a:spcPts val="1300"/>
              </a:spcAft>
              <a:defRPr sz="1900">
                <a:solidFill>
                  <a:srgbClr val="2D353C"/>
                </a:solidFill>
                <a:latin typeface="Aptos"/>
              </a:defRPr>
            </a:pPr>
            <a:r>
              <a:t>•  Suggested screenshot 3: model training or prediction output.</a:t>
            </a:r>
          </a:p>
          <a:p>
            <a:pPr>
              <a:spcAft>
                <a:spcPts val="1300"/>
              </a:spcAft>
              <a:defRPr sz="1900">
                <a:solidFill>
                  <a:srgbClr val="2D353C"/>
                </a:solidFill>
                <a:latin typeface="Aptos"/>
              </a:defRPr>
            </a:pPr>
            <a:r>
              <a:t>•  Suggested screenshot 4: evaluation report and confusion matrix.</a:t>
            </a:r>
          </a:p>
          <a:p>
            <a:pPr>
              <a:spcAft>
                <a:spcPts val="1300"/>
              </a:spcAft>
              <a:defRPr sz="1900">
                <a:solidFill>
                  <a:srgbClr val="2D353C"/>
                </a:solidFill>
                <a:latin typeface="Aptos"/>
              </a:defRPr>
            </a:pPr>
            <a:r>
              <a:t>•  No implementation screenshots were included in the supplied materials; add them after execution.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6"/>
                </a:solidFill>
                <a:latin typeface="Aptos"/>
              </a:defRPr>
            </a:pPr>
            <a:r>
              <a:t>FOREST FIRE PREDICTION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D353C"/>
                </a:solidFill>
                <a:latin typeface="Aptos"/>
              </a:defRPr>
            </a:pPr>
            <a:r>
              <a:t>•  Can process multiple environmental variables together.</a:t>
            </a:r>
          </a:p>
          <a:p>
            <a:pPr>
              <a:spcAft>
                <a:spcPts val="1300"/>
              </a:spcAft>
              <a:defRPr sz="2100">
                <a:solidFill>
                  <a:srgbClr val="2D353C"/>
                </a:solidFill>
                <a:latin typeface="Aptos"/>
              </a:defRPr>
            </a:pPr>
            <a:r>
              <a:t>•  Satellite data can help extend monitoring across large and remote areas.</a:t>
            </a:r>
          </a:p>
          <a:p>
            <a:pPr>
              <a:spcAft>
                <a:spcPts val="1300"/>
              </a:spcAft>
              <a:defRPr sz="2100">
                <a:solidFill>
                  <a:srgbClr val="2D353C"/>
                </a:solidFill>
                <a:latin typeface="Aptos"/>
              </a:defRPr>
            </a:pPr>
            <a:r>
              <a:t>•  Automated scoring can help prioritise areas for additional review.</a:t>
            </a:r>
          </a:p>
          <a:p>
            <a:pPr>
              <a:spcAft>
                <a:spcPts val="1300"/>
              </a:spcAft>
              <a:defRPr sz="2100">
                <a:solidFill>
                  <a:srgbClr val="2D353C"/>
                </a:solidFill>
                <a:latin typeface="Aptos"/>
              </a:defRPr>
            </a:pPr>
            <a:r>
              <a:t>•  Model evaluation and explanation can make the decision process more systematic.</a:t>
            </a:r>
          </a:p>
          <a:p>
            <a:pPr>
              <a:spcAft>
                <a:spcPts val="1300"/>
              </a:spcAft>
              <a:defRPr sz="2100">
                <a:solidFill>
                  <a:srgbClr val="2D353C"/>
                </a:solidFill>
                <a:latin typeface="Aptos"/>
              </a:defRPr>
            </a:pPr>
            <a:r>
              <a:t>•  The workflow can be updated as better data becomes available.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6"/>
                </a:solidFill>
                <a:latin typeface="Aptos"/>
              </a:defRPr>
            </a:pPr>
            <a:r>
              <a:t>FOREST FIRE PREDICTION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D353C"/>
                </a:solidFill>
                <a:latin typeface="Aptos"/>
              </a:defRPr>
            </a:pPr>
            <a:r>
              <a:t>•  Forest department monitoring and patrol planning.</a:t>
            </a:r>
          </a:p>
          <a:p>
            <a:pPr>
              <a:spcAft>
                <a:spcPts val="1300"/>
              </a:spcAft>
              <a:defRPr sz="2100">
                <a:solidFill>
                  <a:srgbClr val="2D353C"/>
                </a:solidFill>
                <a:latin typeface="Aptos"/>
              </a:defRPr>
            </a:pPr>
            <a:r>
              <a:t>•  Disaster-management preparation and resource allocation.</a:t>
            </a:r>
          </a:p>
          <a:p>
            <a:pPr>
              <a:spcAft>
                <a:spcPts val="1300"/>
              </a:spcAft>
              <a:defRPr sz="2100">
                <a:solidFill>
                  <a:srgbClr val="2D353C"/>
                </a:solidFill>
                <a:latin typeface="Aptos"/>
              </a:defRPr>
            </a:pPr>
            <a:r>
              <a:t>•  Environmental monitoring and post-fire assessment.</a:t>
            </a:r>
          </a:p>
          <a:p>
            <a:pPr>
              <a:spcAft>
                <a:spcPts val="1300"/>
              </a:spcAft>
              <a:defRPr sz="2100">
                <a:solidFill>
                  <a:srgbClr val="2D353C"/>
                </a:solidFill>
                <a:latin typeface="Aptos"/>
              </a:defRPr>
            </a:pPr>
            <a:r>
              <a:t>•  Research on climate, vegetation, and fire-weather relationships.</a:t>
            </a:r>
          </a:p>
          <a:p>
            <a:pPr>
              <a:spcAft>
                <a:spcPts val="1300"/>
              </a:spcAft>
              <a:defRPr sz="2100">
                <a:solidFill>
                  <a:srgbClr val="2D353C"/>
                </a:solidFill>
                <a:latin typeface="Aptos"/>
              </a:defRPr>
            </a:pPr>
            <a:r>
              <a:t>•  Decision support for agencies, with alerts verified by authorised personnel.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6"/>
                </a:solidFill>
                <a:latin typeface="Aptos"/>
              </a:defRPr>
            </a:pPr>
            <a:r>
              <a:t>FOREST FIRE PREDICTION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Fire labels and satellite detections may be incomplete or imperfect.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The UCI Forest Fires dataset is small and may not generalise to other regions.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Random data splitting can cause leakage across nearby times and locations.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Weather features cannot capture every ignition cause or human activity.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Cloud cover, satellite resolution, and observation timing can affect imagery.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No measured results or deployed system were supplied with the project materials.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6"/>
                </a:solidFill>
                <a:latin typeface="Aptos"/>
              </a:defRPr>
            </a:pPr>
            <a:r>
              <a:t>FOREST FIRE PREDICTION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Integrate validated live weather and satellite data feeds.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Create regularly updated risk maps and carefully reviewed alert rules.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Evaluate across different seasons, years, and geographic regions.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Compare Random Forest with boosted trees and other suitable baselines.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Improve image labels and explore combined image-plus-tabular models.</a:t>
            </a:r>
          </a:p>
          <a:p>
            <a:pPr>
              <a:spcAft>
                <a:spcPts val="1300"/>
              </a:spcAft>
              <a:defRPr sz="1800">
                <a:solidFill>
                  <a:srgbClr val="2D353C"/>
                </a:solidFill>
                <a:latin typeface="Aptos"/>
              </a:defRPr>
            </a:pPr>
            <a:r>
              <a:t>•  Monitor model drift and retrain when climate patterns or land cover change.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6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1371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6E76"/>
                </a:solidFill>
                <a:latin typeface="Aptos"/>
              </a:defRPr>
            </a:pPr>
            <a:r>
              <a:t>FOREST FIRE PREDICTION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5156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D353C"/>
                </a:solidFill>
                <a:latin typeface="Aptos"/>
              </a:defRPr>
            </a:pPr>
            <a:r>
              <a:t>•  Machine learning and satellite observations offer a promising way to support forest-fire monitoring.</a:t>
            </a:r>
          </a:p>
          <a:p>
            <a:pPr>
              <a:spcAft>
                <a:spcPts val="1300"/>
              </a:spcAft>
              <a:defRPr sz="1900">
                <a:solidFill>
                  <a:srgbClr val="2D353C"/>
                </a:solidFill>
                <a:latin typeface="Aptos"/>
              </a:defRPr>
            </a:pPr>
            <a:r>
              <a:t>•  The proposed workflow combines environmental features with Random Forest and CNN candidate models.</a:t>
            </a:r>
          </a:p>
          <a:p>
            <a:pPr>
              <a:spcAft>
                <a:spcPts val="1300"/>
              </a:spcAft>
              <a:defRPr sz="1900">
                <a:solidFill>
                  <a:srgbClr val="2D353C"/>
                </a:solidFill>
                <a:latin typeface="Aptos"/>
              </a:defRPr>
            </a:pPr>
            <a:r>
              <a:t>•  Reliable evaluation requires time- or region-based testing and metrics suited to rare events.</a:t>
            </a:r>
          </a:p>
          <a:p>
            <a:pPr>
              <a:spcAft>
                <a:spcPts val="1300"/>
              </a:spcAft>
              <a:defRPr sz="1900">
                <a:solidFill>
                  <a:srgbClr val="2D353C"/>
                </a:solidFill>
                <a:latin typeface="Aptos"/>
              </a:defRPr>
            </a:pPr>
            <a:r>
              <a:t>•  The next step is to implement the workflow on a documented dataset and report actual results.</a:t>
            </a:r>
          </a:p>
          <a:p>
            <a:pPr>
              <a:spcAft>
                <a:spcPts val="1300"/>
              </a:spcAft>
              <a:defRPr sz="1900">
                <a:solidFill>
                  <a:srgbClr val="2D353C"/>
                </a:solidFill>
                <a:latin typeface="Aptos"/>
              </a:defRPr>
            </a:pPr>
            <a:r>
              <a:t>•  The system should support expert decisions, not replace official monitoring or emergency procedures.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